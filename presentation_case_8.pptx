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3970D0"/>
              </a:solidFill>
              <a:prstDash val="solid"/>
              <a:round/>
            </a:ln>
          </a:left>
          <a:right>
            <a:ln w="9525" cap="flat">
              <a:solidFill>
                <a:srgbClr val="3970D0"/>
              </a:solidFill>
              <a:prstDash val="solid"/>
              <a:round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9525" cap="flat">
              <a:solidFill>
                <a:srgbClr val="3970D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9525" cap="flat">
              <a:solidFill>
                <a:srgbClr val="3970D0"/>
              </a:solidFill>
              <a:prstDash val="solid"/>
              <a:round/>
            </a:ln>
          </a:top>
          <a:bottom>
            <a:ln w="9525" cap="flat">
              <a:solidFill>
                <a:srgbClr val="3970D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5EE"/>
          </a:solidFill>
        </a:fill>
      </a:tcStyle>
    </a:wholeTbl>
    <a:band2H>
      <a:tcTxStyle b="def" i="def"/>
      <a:tcStyle>
        <a:tcBdr/>
        <a:fill>
          <a:solidFill>
            <a:srgbClr val="E8EB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5CD"/>
          </a:solidFill>
        </a:fill>
      </a:tcStyle>
    </a:wholeTbl>
    <a:band2H>
      <a:tcTxStyle b="def" i="def"/>
      <a:tcStyle>
        <a:tcBdr/>
        <a:fill>
          <a:solidFill>
            <a:srgbClr val="E8F2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D3E5"/>
          </a:solidFill>
        </a:fill>
      </a:tcStyle>
    </a:wholeTbl>
    <a:band2H>
      <a:tcTxStyle b="def" i="def"/>
      <a:tcStyle>
        <a:tcBdr/>
        <a:fill>
          <a:solidFill>
            <a:srgbClr val="ECEAF3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" name="Shape 1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/>
          <p:cNvSpPr txBox="1"/>
          <p:nvPr>
            <p:ph type="title" hasCustomPrompt="1"/>
          </p:nvPr>
        </p:nvSpPr>
        <p:spPr>
          <a:xfrm>
            <a:off x="1215494" y="4585101"/>
            <a:ext cx="9757341" cy="254000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12" name="Image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6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2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0" name="Image"/>
          <p:cNvSpPr/>
          <p:nvPr>
            <p:ph type="pic" idx="21"/>
          </p:nvPr>
        </p:nvSpPr>
        <p:spPr>
          <a:xfrm>
            <a:off x="12192644" y="718588"/>
            <a:ext cx="10972801" cy="12329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1" name="Body Level One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2" name="Body Level One…"/>
          <p:cNvSpPr txBox="1"/>
          <p:nvPr>
            <p:ph type="body" sz="half" idx="22" hasCustomPrompt="1"/>
          </p:nvPr>
        </p:nvSpPr>
        <p:spPr>
          <a:xfrm>
            <a:off x="1219198" y="4023221"/>
            <a:ext cx="9757573" cy="838468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xfrm>
            <a:off x="1200403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ection Title"/>
          <p:cNvSpPr txBox="1"/>
          <p:nvPr>
            <p:ph type="title" hasCustomPrompt="1"/>
          </p:nvPr>
        </p:nvSpPr>
        <p:spPr>
          <a:xfrm>
            <a:off x="1219200" y="3242267"/>
            <a:ext cx="21945600" cy="660400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80000"/>
              </a:lnSpc>
              <a:defRPr b="0" spc="0" sz="12800">
                <a:latin typeface="Canela Bold"/>
                <a:ea typeface="Canela Bold"/>
                <a:cs typeface="Canela Bold"/>
                <a:sym typeface="Canela Bold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51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59" name="Body Level One…"/>
          <p:cNvSpPr txBox="1"/>
          <p:nvPr>
            <p:ph type="body" sz="quarter" idx="1" hasCustomPrompt="1"/>
          </p:nvPr>
        </p:nvSpPr>
        <p:spPr>
          <a:xfrm>
            <a:off x="1219200" y="2384648"/>
            <a:ext cx="21945602" cy="832616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68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9" name="Agenda Subtitle"/>
          <p:cNvSpPr txBox="1"/>
          <p:nvPr>
            <p:ph type="body" sz="quarter" idx="21" hasCustomPrompt="1"/>
          </p:nvPr>
        </p:nvSpPr>
        <p:spPr>
          <a:xfrm>
            <a:off x="1219200" y="2387113"/>
            <a:ext cx="21945602" cy="832616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70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ody Level One…"/>
          <p:cNvSpPr txBox="1"/>
          <p:nvPr>
            <p:ph type="body" sz="quarter" idx="1" hasCustomPrompt="1"/>
          </p:nvPr>
        </p:nvSpPr>
        <p:spPr>
          <a:xfrm>
            <a:off x="1219200" y="8462239"/>
            <a:ext cx="21945602" cy="832616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Fact information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6" name="Body Level One…"/>
          <p:cNvSpPr txBox="1"/>
          <p:nvPr>
            <p:ph type="body" sz="half" idx="21" hasCustomPrompt="1"/>
          </p:nvPr>
        </p:nvSpPr>
        <p:spPr>
          <a:xfrm>
            <a:off x="1219200" y="4214481"/>
            <a:ext cx="21945600" cy="4269712"/>
          </a:xfrm>
          <a:prstGeom prst="rect">
            <a:avLst/>
          </a:prstGeom>
        </p:spPr>
        <p:txBody>
          <a:bodyPr anchor="b"/>
          <a:lstStyle/>
          <a:p>
            <a:pPr lvl="4" marL="0" indent="1656891" algn="ctr" defTabSz="565708">
              <a:lnSpc>
                <a:spcPct val="80000"/>
              </a:lnSpc>
              <a:spcBef>
                <a:spcPts val="0"/>
              </a:spcBef>
              <a:buSzTx/>
              <a:buNone/>
              <a:defRPr sz="5100">
                <a:latin typeface="Canela Bold"/>
                <a:ea typeface="Canela Bold"/>
                <a:cs typeface="Canela Bold"/>
                <a:sym typeface="Canela Bold"/>
              </a:defRPr>
            </a:pPr>
            <a:r>
              <a:t>100%
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sz="quarter" idx="1" hasCustomPrompt="1"/>
          </p:nvPr>
        </p:nvSpPr>
        <p:spPr>
          <a:xfrm>
            <a:off x="1219200" y="11100051"/>
            <a:ext cx="21945602" cy="832616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5" name="Body Level One…"/>
          <p:cNvSpPr txBox="1"/>
          <p:nvPr>
            <p:ph type="body" sz="half" idx="2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/>
          <a:p>
            <a:pPr lvl="4" marL="0" indent="2560320" defTabSz="1950720">
              <a:lnSpc>
                <a:spcPct val="80000"/>
              </a:lnSpc>
              <a:spcBef>
                <a:spcPts val="0"/>
              </a:spcBef>
              <a:buSzTx/>
              <a:buNone/>
              <a:defRPr b="1" sz="6700"/>
            </a:pPr>
            <a:r>
              <a:t>“Notable Quote”
</a:t>
            </a:r>
          </a:p>
        </p:txBody>
      </p:sp>
      <p:sp>
        <p:nvSpPr>
          <p:cNvPr id="96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941297804_1296x1457.jpg"/>
          <p:cNvSpPr/>
          <p:nvPr>
            <p:ph type="pic" sz="quarter" idx="21"/>
          </p:nvPr>
        </p:nvSpPr>
        <p:spPr>
          <a:xfrm>
            <a:off x="15744825" y="5581751"/>
            <a:ext cx="7365408" cy="828040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4" name="915009552_2264x1509.jpg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5" name="740519873_3318x2212.jpg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740519873_3318x2212.jpg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1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1pPr>
      <a:lvl2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2pPr>
      <a:lvl3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3pPr>
      <a:lvl4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4pPr>
      <a:lvl5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5pPr>
      <a:lvl6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6pPr>
      <a:lvl7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7pPr>
      <a:lvl8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8pPr>
      <a:lvl9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9pPr>
    </p:titleStyle>
    <p:bodyStyle>
      <a:lvl1pPr marL="5461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1pPr>
      <a:lvl2pPr marL="10922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2pPr>
      <a:lvl3pPr marL="16383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3pPr>
      <a:lvl4pPr marL="21844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4pPr>
      <a:lvl5pPr marL="27305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5pPr>
      <a:lvl6pPr marL="32766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6pPr>
      <a:lvl7pPr marL="38227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7pPr>
      <a:lvl8pPr marL="43688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8pPr>
      <a:lvl9pPr marL="49149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image" Target="../media/image2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4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Half Logo Left.png" descr="Half Logo Lef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40637" y="0"/>
            <a:ext cx="9478213" cy="13911266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quare"/>
          <p:cNvSpPr/>
          <p:nvPr/>
        </p:nvSpPr>
        <p:spPr>
          <a:xfrm>
            <a:off x="12888613" y="-1"/>
            <a:ext cx="13911263" cy="13813633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32" name="Лобанов Иван Васильевич Ректор Российского экономического университета  имени Г.В. Плеханова"/>
          <p:cNvSpPr txBox="1"/>
          <p:nvPr>
            <p:ph type="body" sz="quarter" idx="1"/>
          </p:nvPr>
        </p:nvSpPr>
        <p:spPr>
          <a:xfrm>
            <a:off x="1185809" y="9962228"/>
            <a:ext cx="10309581" cy="3392266"/>
          </a:xfrm>
          <a:prstGeom prst="rect">
            <a:avLst/>
          </a:prstGeom>
        </p:spPr>
        <p:txBody>
          <a:bodyPr/>
          <a:lstStyle/>
          <a:p>
            <a:pPr defTabSz="2200356">
              <a:lnSpc>
                <a:spcPct val="96000"/>
              </a:lnSpc>
              <a:spcBef>
                <a:spcPts val="2100"/>
              </a:spcBef>
              <a:defRPr b="1" spc="0" sz="2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Титов Илья, ЭФБО-08-25</a:t>
            </a:r>
          </a:p>
          <a:p>
            <a:pPr defTabSz="2200356">
              <a:lnSpc>
                <a:spcPct val="96000"/>
              </a:lnSpc>
              <a:spcBef>
                <a:spcPts val="2100"/>
              </a:spcBef>
              <a:defRPr b="1" spc="0" sz="2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Сидорова Юлия, ЭФБО-08-25</a:t>
            </a:r>
          </a:p>
          <a:p>
            <a:pPr defTabSz="2200356">
              <a:lnSpc>
                <a:spcPct val="96000"/>
              </a:lnSpc>
              <a:spcBef>
                <a:spcPts val="2100"/>
              </a:spcBef>
              <a:defRPr b="1" spc="0" sz="2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Шилов Захар, ЭФБО-08-25</a:t>
            </a:r>
          </a:p>
          <a:p>
            <a:pPr defTabSz="2200356">
              <a:lnSpc>
                <a:spcPct val="96000"/>
              </a:lnSpc>
              <a:spcBef>
                <a:spcPts val="2100"/>
              </a:spcBef>
              <a:defRPr b="1" spc="0" sz="2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Трофименко Дмитрий, ЭФБО-08-25</a:t>
            </a:r>
          </a:p>
          <a:p>
            <a:pPr defTabSz="2200356">
              <a:lnSpc>
                <a:spcPct val="96000"/>
              </a:lnSpc>
              <a:spcBef>
                <a:spcPts val="2100"/>
              </a:spcBef>
              <a:defRPr b="1" spc="0" sz="2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Савин Виталий, ЭФБО-08-25</a:t>
            </a:r>
          </a:p>
        </p:txBody>
      </p:sp>
      <p:sp>
        <p:nvSpPr>
          <p:cNvPr id="133" name="ГЛОБАЛЬНАЯ КОНКУРЕНЦИЯ"/>
          <p:cNvSpPr txBox="1"/>
          <p:nvPr/>
        </p:nvSpPr>
        <p:spPr>
          <a:xfrm>
            <a:off x="591941" y="1173442"/>
            <a:ext cx="11497317" cy="2993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926334">
              <a:spcBef>
                <a:spcPts val="0"/>
              </a:spcBef>
              <a:defRPr b="1" cap="all" spc="-99" sz="4700">
                <a:solidFill>
                  <a:srgbClr val="0B2D50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«Автоматизированная библиотечная информационная система (АБИС)»</a:t>
            </a:r>
          </a:p>
        </p:txBody>
      </p:sp>
      <p:pic>
        <p:nvPicPr>
          <p:cNvPr id="13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475269" y="3458354"/>
            <a:ext cx="7729140" cy="54154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502419" y="491891"/>
            <a:ext cx="4816849" cy="6723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933072" y="352007"/>
            <a:ext cx="4431313" cy="817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Picture 10" descr="Picture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3978187" y="316076"/>
            <a:ext cx="1740677" cy="848169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ГЛОБАЛЬНАЯ КОНКУРЕНЦИЯ"/>
          <p:cNvSpPr txBox="1"/>
          <p:nvPr/>
        </p:nvSpPr>
        <p:spPr>
          <a:xfrm>
            <a:off x="14095584" y="9665589"/>
            <a:ext cx="11497319" cy="2993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2438400">
              <a:spcBef>
                <a:spcPts val="0"/>
              </a:spcBef>
              <a:defRPr b="1" cap="all" spc="-100" sz="6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Основы проектной деятельности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КЛЮЧЕВЫЕ…"/>
          <p:cNvSpPr txBox="1"/>
          <p:nvPr>
            <p:ph type="title"/>
          </p:nvPr>
        </p:nvSpPr>
        <p:spPr>
          <a:xfrm>
            <a:off x="8932984" y="985406"/>
            <a:ext cx="8598010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Цель проекта:</a:t>
            </a:r>
          </a:p>
        </p:txBody>
      </p:sp>
      <p:sp>
        <p:nvSpPr>
          <p:cNvPr id="141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8932984" y="2879006"/>
            <a:ext cx="13074964" cy="2978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804370">
              <a:spcBef>
                <a:spcPts val="1700"/>
              </a:spcBef>
              <a:defRPr sz="3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Разработать автоматизированную библиотечную информационную систему для учета выдачи и возврата книг, обеспечивающую контроль просрочек, автоматическое формирование отчетности и снижение доли просроченных выдач до 5%</a:t>
            </a:r>
          </a:p>
        </p:txBody>
      </p:sp>
      <p:sp>
        <p:nvSpPr>
          <p:cNvPr id="142" name="КЛЮЧЕВЫЕ…"/>
          <p:cNvSpPr txBox="1"/>
          <p:nvPr/>
        </p:nvSpPr>
        <p:spPr>
          <a:xfrm>
            <a:off x="694392" y="985406"/>
            <a:ext cx="10309581" cy="1755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spcBef>
                <a:spcPts val="0"/>
              </a:spcBef>
              <a:defRPr b="1" spc="-100" sz="50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Основные сведения:</a:t>
            </a:r>
          </a:p>
        </p:txBody>
      </p:sp>
      <p:sp>
        <p:nvSpPr>
          <p:cNvPr id="143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694394" y="2740893"/>
            <a:ext cx="7769670" cy="771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Название проекта: «АБИС»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№ кейса: 8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Участники и роли: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Титов -TeamLead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Шилов - Backend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Сидорова - Backend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Трофименко - Frontend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Савин - Frontend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Заказчик проекта: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Сроки: 2 мес</a:t>
            </a:r>
          </a:p>
        </p:txBody>
      </p:sp>
      <p:sp>
        <p:nvSpPr>
          <p:cNvPr id="144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4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КЛЮЧЕВЫЕ…"/>
          <p:cNvSpPr txBox="1"/>
          <p:nvPr/>
        </p:nvSpPr>
        <p:spPr>
          <a:xfrm>
            <a:off x="8932984" y="5460588"/>
            <a:ext cx="8598010" cy="1755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spcBef>
                <a:spcPts val="0"/>
              </a:spcBef>
              <a:defRPr b="1" spc="-100" sz="54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Задачи проекта:</a:t>
            </a:r>
          </a:p>
        </p:txBody>
      </p:sp>
      <p:sp>
        <p:nvSpPr>
          <p:cNvPr id="147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8932984" y="7391127"/>
            <a:ext cx="13074964" cy="297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324611" indent="-324611" defTabSz="1281102">
              <a:lnSpc>
                <a:spcPct val="108000"/>
              </a:lnSpc>
              <a:spcBef>
                <a:spcPts val="1200"/>
              </a:spcBef>
              <a:buSzPct val="150000"/>
              <a:buFont typeface="Arial"/>
              <a:buChar char="•"/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t>Разработка модуля учета выдачи и возврата книг с бизнес-правилами;</a:t>
            </a:r>
          </a:p>
          <a:p>
            <a:pPr marL="324611" indent="-324611" defTabSz="1281102">
              <a:lnSpc>
                <a:spcPct val="108000"/>
              </a:lnSpc>
              <a:spcBef>
                <a:spcPts val="1200"/>
              </a:spcBef>
              <a:buSzPct val="150000"/>
              <a:buFont typeface="Arial"/>
              <a:buChar char="•"/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t>Разработка отчета «Просрочки» с расчетом ключевых показателей;</a:t>
            </a:r>
          </a:p>
          <a:p>
            <a:pPr marL="324611" indent="-324611" defTabSz="1281102">
              <a:lnSpc>
                <a:spcPct val="108000"/>
              </a:lnSpc>
              <a:spcBef>
                <a:spcPts val="1200"/>
              </a:spcBef>
              <a:buSzPct val="150000"/>
              <a:buFont typeface="Arial"/>
              <a:buChar char="•"/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t>Импорт/экспорт данных и разграничение ролей доступа;</a:t>
            </a:r>
          </a:p>
          <a:p>
            <a:pPr marL="324611" indent="-324611" defTabSz="1281102">
              <a:lnSpc>
                <a:spcPct val="108000"/>
              </a:lnSpc>
              <a:spcBef>
                <a:spcPts val="1200"/>
              </a:spcBef>
              <a:buSzPct val="150000"/>
              <a:buFont typeface="Arial"/>
              <a:buChar char="•"/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t>Моделирование бизнес-процессов и документация (BPMN + Event Storming).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КЛЮЧЕВЫЕ…"/>
          <p:cNvSpPr txBox="1"/>
          <p:nvPr>
            <p:ph type="title"/>
          </p:nvPr>
        </p:nvSpPr>
        <p:spPr>
          <a:xfrm>
            <a:off x="961292" y="1360543"/>
            <a:ext cx="8598008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Актуальная проблема:</a:t>
            </a:r>
          </a:p>
        </p:txBody>
      </p:sp>
      <p:sp>
        <p:nvSpPr>
          <p:cNvPr id="150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1" y="3254147"/>
            <a:ext cx="15263447" cy="297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804370">
              <a:spcBef>
                <a:spcPts val="1700"/>
              </a:spcBef>
              <a:defRPr sz="3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Высокий процент просрочек возврата книг из-за отсутствия автоматизированного контроля и ручного учета, что приводит к снижению оборачиваемости фонда, дополнительным трудозатратам библиотекарей и неудовлетворенности читателей.</a:t>
            </a:r>
          </a:p>
        </p:txBody>
      </p:sp>
      <p:sp>
        <p:nvSpPr>
          <p:cNvPr id="151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5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КЛЮЧЕВЫЕ…"/>
          <p:cNvSpPr txBox="1"/>
          <p:nvPr/>
        </p:nvSpPr>
        <p:spPr>
          <a:xfrm>
            <a:off x="715106" y="4750975"/>
            <a:ext cx="15755817" cy="1755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spcBef>
                <a:spcPts val="0"/>
              </a:spcBef>
              <a:defRPr b="1" spc="-100" sz="54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Выгода от реализации и основные метрики</a:t>
            </a:r>
          </a:p>
        </p:txBody>
      </p:sp>
      <p:sp>
        <p:nvSpPr>
          <p:cNvPr id="154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844060" y="6673184"/>
            <a:ext cx="22695880" cy="297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457200" indent="-457200" defTabSz="1804370">
              <a:spcBef>
                <a:spcPts val="1700"/>
              </a:spcBef>
              <a:buSzPct val="150000"/>
              <a:buFont typeface="Arial"/>
              <a:buChar char="•"/>
              <a:defRPr sz="3200">
                <a:latin typeface="Roboto"/>
                <a:ea typeface="Roboto"/>
                <a:cs typeface="Roboto"/>
                <a:sym typeface="Roboto"/>
              </a:defRPr>
            </a:pPr>
            <a:r>
              <a:t>Сокращение трудозатрат</a:t>
            </a:r>
          </a:p>
          <a:p>
            <a:pPr marL="457200" indent="-457200" defTabSz="1804370">
              <a:spcBef>
                <a:spcPts val="1700"/>
              </a:spcBef>
              <a:buSzPct val="150000"/>
              <a:buFont typeface="Arial"/>
              <a:buChar char="•"/>
              <a:defRPr sz="3200">
                <a:latin typeface="Roboto"/>
                <a:ea typeface="Roboto"/>
                <a:cs typeface="Roboto"/>
                <a:sym typeface="Roboto"/>
              </a:defRPr>
            </a:pPr>
            <a:r>
              <a:t>Повышение оборачиваемости фонда</a:t>
            </a:r>
          </a:p>
          <a:p>
            <a:pPr marL="457200" indent="-457200" defTabSz="1804370">
              <a:spcBef>
                <a:spcPts val="1700"/>
              </a:spcBef>
              <a:buSzPct val="150000"/>
              <a:buFont typeface="Arial"/>
              <a:buChar char="•"/>
              <a:defRPr sz="3200">
                <a:latin typeface="Roboto"/>
                <a:ea typeface="Roboto"/>
                <a:cs typeface="Roboto"/>
                <a:sym typeface="Roboto"/>
              </a:defRPr>
            </a:pPr>
            <a:r>
              <a:t>Прозрачность учёта</a:t>
            </a:r>
          </a:p>
          <a:p>
            <a:pPr marL="457200" indent="-457200" defTabSz="1804370">
              <a:spcBef>
                <a:spcPts val="1700"/>
              </a:spcBef>
              <a:buSzPct val="150000"/>
              <a:buFont typeface="Arial"/>
              <a:buChar char="•"/>
              <a:defRPr sz="3200">
                <a:latin typeface="Roboto"/>
                <a:ea typeface="Roboto"/>
                <a:cs typeface="Roboto"/>
                <a:sym typeface="Roboto"/>
              </a:defRPr>
            </a:pPr>
            <a:r>
              <a:t>Удовлетворенность читателей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КЛЮЧЕВЫЕ…"/>
          <p:cNvSpPr txBox="1"/>
          <p:nvPr>
            <p:ph type="title"/>
          </p:nvPr>
        </p:nvSpPr>
        <p:spPr>
          <a:xfrm>
            <a:off x="961292" y="1360543"/>
            <a:ext cx="8598008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Результаты проекта:</a:t>
            </a:r>
          </a:p>
        </p:txBody>
      </p:sp>
      <p:sp>
        <p:nvSpPr>
          <p:cNvPr id="157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5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2" y="3563770"/>
            <a:ext cx="22695880" cy="923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457200">
              <a:lnSpc>
                <a:spcPct val="100000"/>
              </a:lnSpc>
              <a:spcBef>
                <a:spcPts val="1600"/>
              </a:spcBef>
              <a:defRPr sz="2200"/>
            </a:pPr>
            <a:r>
              <a:t>1. Автоматизированный учет выдачи и возврата книг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/>
            </a:pPr>
            <a:r>
              <a:t>Что создано: Веб-приложение с формами для регистрации выдачи и возврата книг, автоматическим расчетом даты возврата (issue_date + 14 дней) и блокировкой повторной выдачи.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/>
            </a:pPr>
            <a:r>
              <a:t>Связь с проблемой: Устраняет ручной учет в Excel и бумажных формулярах, исключает риск потери данных и конфликты при выдаче.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/>
            </a:pPr>
            <a:r>
              <a:t>Связь с выгодой: Сокращает время библиотекаря на оформление операций, обеспечивает прозрачность и достоверность учета.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2200"/>
            </a:pPr>
            <a:r>
              <a:t>2. Отчет «Просрочки» с аналитикой и экспортом в CSV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/>
            </a:pPr>
            <a:r>
              <a:t>Что создано: Интерактивный отчет, который автоматически выявляет должников, рассчитывает дни просрочки, показывает долю просроченных выдач, средний срок оборота книги и ТОП-5 читателей/книг по просрочке. Реализована выгрузка в CSV.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/>
            </a:pPr>
            <a:r>
              <a:t>Связь с проблемой: Устраняет дни ручной работы по поиску должников и формированию списков просрочек.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/>
            </a:pPr>
            <a:r>
              <a:t>Связь с выгодой: Библиотекарь получает актуальный список должников за минуту, заведующий — достоверные KPI для управления фондом.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2200"/>
            </a:pPr>
            <a:r>
              <a:t>3. Импорт данных из CSV и разграничение ролей доступа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/>
            </a:pPr>
            <a:r>
              <a:t>Что создано: Механизм импорта каталога книг и списка читателей из CSV-файлов. Система аутентификации с тремя ролями: библиотекарь (выдача/отчет), администратор (импорт/настройки), читатель (личный кабинет).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/>
            </a:pPr>
            <a:r>
              <a:t>Связь с проблемой: Обеспечивает быструю загрузку начальных данных, исключает дублирование, защищает данные от несанкционированного доступа.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/>
            </a:pPr>
            <a:r>
              <a:t>Связь с выгодой: Снижает трудозатраты на ввод данных, повышает безопасность и доверие к системе.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2200"/>
            </a:pPr>
            <a:r>
              <a:t>КРИТЕРИИ УСПЕХА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/>
            </a:pPr>
            <a:r>
              <a:t>Проект считается успешно реализованным, если выполнены следующие условия: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/>
            </a:pPr>
            <a:r>
              <a:t>Доля просроченных выдач снижена до 5% и ниже (измеряется встроенным отчетом).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/>
            </a:pPr>
            <a:r>
              <a:t>Средний срок оборота книги составляет 14 дней или менее (рассчитывается автоматически).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/>
            </a:pPr>
            <a:r>
              <a:t>Формирование отчета «Просрочки» занимает менее 1 минуты при загрузке 100+ записей.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/>
            </a:pPr>
            <a:r>
              <a:t>Конфликты выдачи полностью исключены — система не позволяет выдать книгу с активной выдачей.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/>
            </a:pPr>
            <a:r>
              <a:t>Импорт CSV выполняется без создания дубликатов, данные загружаются корректно.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/>
            </a:pPr>
            <a:r>
              <a:t>Ролевая модель работает: библиотекарь не имеет доступа к настройкам, читатель видит только свои выдачи.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/>
            </a:pPr>
            <a:r>
              <a:t>Документация принята заказчиком — BPMN, ERD и User Stories согласованы и понятны.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/>
            </a:pPr>
            <a:r>
              <a:t>Система развернута и передана в эксплуатацию в срок до 30.06.2026.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Группы пользователей</a:t>
            </a:r>
          </a:p>
        </p:txBody>
      </p:sp>
      <p:sp>
        <p:nvSpPr>
          <p:cNvPr id="162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6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2" y="3563773"/>
            <a:ext cx="22695880" cy="2870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Администратор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Библиотекарь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Читатель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КЛЮЧЕВЫЕ…"/>
          <p:cNvSpPr txBox="1"/>
          <p:nvPr>
            <p:ph type="title"/>
          </p:nvPr>
        </p:nvSpPr>
        <p:spPr>
          <a:xfrm>
            <a:off x="930813" y="971094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Приоритизация требований</a:t>
            </a:r>
          </a:p>
        </p:txBody>
      </p:sp>
      <p:sp>
        <p:nvSpPr>
          <p:cNvPr id="167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6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4" name="Схема 1"/>
          <p:cNvGrpSpPr/>
          <p:nvPr/>
        </p:nvGrpSpPr>
        <p:grpSpPr>
          <a:xfrm>
            <a:off x="968322" y="3144816"/>
            <a:ext cx="22447355" cy="10116878"/>
            <a:chOff x="-1" y="-1"/>
            <a:chExt cx="22447354" cy="10116877"/>
          </a:xfrm>
        </p:grpSpPr>
        <p:grpSp>
          <p:nvGrpSpPr>
            <p:cNvPr id="171" name="Group"/>
            <p:cNvGrpSpPr/>
            <p:nvPr/>
          </p:nvGrpSpPr>
          <p:grpSpPr>
            <a:xfrm>
              <a:off x="-2" y="-2"/>
              <a:ext cx="11223681" cy="5058443"/>
              <a:chOff x="0" y="-1"/>
              <a:chExt cx="11223680" cy="5058441"/>
            </a:xfrm>
          </p:grpSpPr>
          <p:sp>
            <p:nvSpPr>
              <p:cNvPr id="169" name="Shape"/>
              <p:cNvSpPr/>
              <p:nvPr/>
            </p:nvSpPr>
            <p:spPr>
              <a:xfrm rot="16200000">
                <a:off x="3082619" y="-3082621"/>
                <a:ext cx="5058441" cy="112236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000" y="0"/>
                    </a:lnTo>
                    <a:cubicBezTo>
                      <a:pt x="19988" y="0"/>
                      <a:pt x="21600" y="726"/>
                      <a:pt x="21600" y="1623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t">
                <a:noAutofit/>
              </a:bodyPr>
              <a:lstStyle/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170" name="Must…"/>
              <p:cNvSpPr txBox="1"/>
              <p:nvPr/>
            </p:nvSpPr>
            <p:spPr>
              <a:xfrm>
                <a:off x="-1" y="-2"/>
                <a:ext cx="11223681" cy="47043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256031" tIns="256031" rIns="256031" bIns="256031" numCol="1" anchor="t">
                <a:spAutoFit/>
              </a:bodyPr>
              <a:lstStyle/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Must</a:t>
                </a:r>
                <a:endParaRPr sz="3600"/>
              </a:p>
              <a:p>
                <a:pPr defTabSz="1600200">
                  <a:lnSpc>
                    <a:spcPct val="90000"/>
                  </a:lnSpc>
                  <a:spcBef>
                    <a:spcPts val="150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Регистрация выдачи книги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Регистрация возврата книги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Отчет «Просрочки»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Аутентификация и роли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Экспорт отчета в CSV</a:t>
                </a:r>
              </a:p>
            </p:txBody>
          </p:sp>
        </p:grpSp>
        <p:grpSp>
          <p:nvGrpSpPr>
            <p:cNvPr id="174" name="Group"/>
            <p:cNvGrpSpPr/>
            <p:nvPr/>
          </p:nvGrpSpPr>
          <p:grpSpPr>
            <a:xfrm>
              <a:off x="11223672" y="-2"/>
              <a:ext cx="11223681" cy="5058440"/>
              <a:chOff x="-1" y="0"/>
              <a:chExt cx="11223680" cy="5058438"/>
            </a:xfrm>
          </p:grpSpPr>
          <p:sp>
            <p:nvSpPr>
              <p:cNvPr id="172" name="Shape"/>
              <p:cNvSpPr/>
              <p:nvPr/>
            </p:nvSpPr>
            <p:spPr>
              <a:xfrm>
                <a:off x="-1" y="-1"/>
                <a:ext cx="11223681" cy="50584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77" y="0"/>
                    </a:lnTo>
                    <a:cubicBezTo>
                      <a:pt x="20874" y="0"/>
                      <a:pt x="21600" y="1612"/>
                      <a:pt x="21600" y="360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t">
                <a:noAutofit/>
              </a:bodyPr>
              <a:lstStyle/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173" name="Could…"/>
              <p:cNvSpPr txBox="1"/>
              <p:nvPr/>
            </p:nvSpPr>
            <p:spPr>
              <a:xfrm>
                <a:off x="-1" y="0"/>
                <a:ext cx="11223681" cy="4022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256031" tIns="256031" rIns="256031" bIns="256031" numCol="1" anchor="t">
                <a:spAutoFit/>
              </a:bodyPr>
              <a:lstStyle/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Could</a:t>
                </a:r>
                <a:endParaRPr sz="3600"/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Продление срока возврата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Расчет штрафа за просрочку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Поиск по книгам и читателям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Визуальная индикация просрочки</a:t>
                </a:r>
              </a:p>
            </p:txBody>
          </p:sp>
        </p:grpSp>
        <p:grpSp>
          <p:nvGrpSpPr>
            <p:cNvPr id="177" name="Group"/>
            <p:cNvGrpSpPr/>
            <p:nvPr/>
          </p:nvGrpSpPr>
          <p:grpSpPr>
            <a:xfrm>
              <a:off x="-2" y="5058433"/>
              <a:ext cx="11223681" cy="5058443"/>
              <a:chOff x="-1" y="0"/>
              <a:chExt cx="11223681" cy="5058442"/>
            </a:xfrm>
          </p:grpSpPr>
          <p:sp>
            <p:nvSpPr>
              <p:cNvPr id="175" name="Shape"/>
              <p:cNvSpPr/>
              <p:nvPr/>
            </p:nvSpPr>
            <p:spPr>
              <a:xfrm rot="10800000">
                <a:off x="-2" y="0"/>
                <a:ext cx="11223681" cy="50584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77" y="0"/>
                    </a:lnTo>
                    <a:cubicBezTo>
                      <a:pt x="20874" y="0"/>
                      <a:pt x="21600" y="1612"/>
                      <a:pt x="21600" y="360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t">
                <a:noAutofit/>
              </a:bodyPr>
              <a:lstStyle/>
              <a:p>
                <a:pPr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176" name="Should…"/>
              <p:cNvSpPr/>
              <p:nvPr/>
            </p:nvSpPr>
            <p:spPr>
              <a:xfrm>
                <a:off x="-1" y="157745"/>
                <a:ext cx="1122368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12926" tIns="312926" rIns="312926" bIns="312926" numCol="1" anchor="t">
                <a:spAutoFit/>
              </a:bodyPr>
              <a:lstStyle/>
              <a:p>
                <a:pPr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Should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9FAFB"/>
                    </a:solidFill>
                  </a:defRPr>
                </a:pPr>
                <a:r>
                  <a:t>Личный кабинет читателя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9FAFB"/>
                    </a:solidFill>
                  </a:defRPr>
                </a:pPr>
                <a:r>
                  <a:t>Фильтрация отчета «Просрочки»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9FAFB"/>
                    </a:solidFill>
                  </a:defRPr>
                </a:pPr>
                <a:r>
                  <a:t>Автоматическое уведомление о скором возврате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9FAFB"/>
                    </a:solidFill>
                  </a:defRPr>
                </a:pPr>
                <a:r>
                  <a:t>Медианная просрочка</a:t>
                </a:r>
              </a:p>
            </p:txBody>
          </p:sp>
        </p:grpSp>
        <p:grpSp>
          <p:nvGrpSpPr>
            <p:cNvPr id="180" name="Group"/>
            <p:cNvGrpSpPr/>
            <p:nvPr/>
          </p:nvGrpSpPr>
          <p:grpSpPr>
            <a:xfrm>
              <a:off x="11223673" y="5058433"/>
              <a:ext cx="11223680" cy="5058442"/>
              <a:chOff x="0" y="-1"/>
              <a:chExt cx="11223679" cy="5058441"/>
            </a:xfrm>
          </p:grpSpPr>
          <p:sp>
            <p:nvSpPr>
              <p:cNvPr id="178" name="Shape"/>
              <p:cNvSpPr/>
              <p:nvPr/>
            </p:nvSpPr>
            <p:spPr>
              <a:xfrm rot="5400000">
                <a:off x="3082618" y="-3082620"/>
                <a:ext cx="5058442" cy="112236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000" y="0"/>
                    </a:lnTo>
                    <a:cubicBezTo>
                      <a:pt x="19988" y="0"/>
                      <a:pt x="21600" y="726"/>
                      <a:pt x="21600" y="1623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t">
                <a:noAutofit/>
              </a:bodyPr>
              <a:lstStyle/>
              <a:p>
                <a:pPr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179" name="Won’t…"/>
              <p:cNvSpPr/>
              <p:nvPr/>
            </p:nvSpPr>
            <p:spPr>
              <a:xfrm>
                <a:off x="-1" y="1264608"/>
                <a:ext cx="11223679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12926" tIns="312926" rIns="312926" bIns="312926" numCol="1" anchor="t">
                <a:spAutoFit/>
              </a:bodyPr>
              <a:lstStyle/>
              <a:p>
                <a:pPr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Won’t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FFFFF"/>
                    </a:solidFill>
                  </a:defRPr>
                </a:pPr>
                <a:r>
                  <a:t>Интеграция с 1С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FFFFF"/>
                    </a:solidFill>
                  </a:defRPr>
                </a:pPr>
                <a:r>
                  <a:t>Мобильное приложение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FFFFF"/>
                    </a:solidFill>
                  </a:defRPr>
                </a:pPr>
                <a:r>
                  <a:t>Уведомления через Telegram/SMS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FFFFF"/>
                    </a:solidFill>
                  </a:defRPr>
                </a:pPr>
                <a:r>
                  <a:t>Резервирование (бронирование) книг </a:t>
                </a:r>
              </a:p>
            </p:txBody>
          </p:sp>
        </p:grpSp>
        <p:grpSp>
          <p:nvGrpSpPr>
            <p:cNvPr id="183" name="Group"/>
            <p:cNvGrpSpPr/>
            <p:nvPr/>
          </p:nvGrpSpPr>
          <p:grpSpPr>
            <a:xfrm>
              <a:off x="8822796" y="4515614"/>
              <a:ext cx="4801762" cy="1085647"/>
              <a:chOff x="0" y="0"/>
              <a:chExt cx="4801760" cy="1085646"/>
            </a:xfrm>
          </p:grpSpPr>
          <p:sp>
            <p:nvSpPr>
              <p:cNvPr id="181" name="Rounded Rectangle"/>
              <p:cNvSpPr/>
              <p:nvPr/>
            </p:nvSpPr>
            <p:spPr>
              <a:xfrm>
                <a:off x="0" y="0"/>
                <a:ext cx="4801761" cy="1085647"/>
              </a:xfrm>
              <a:prstGeom prst="roundRect">
                <a:avLst>
                  <a:gd name="adj" fmla="val 16667"/>
                </a:avLst>
              </a:prstGeom>
              <a:solidFill>
                <a:srgbClr val="ADBBE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182" name="MoSCoW"/>
              <p:cNvSpPr/>
              <p:nvPr/>
            </p:nvSpPr>
            <p:spPr>
              <a:xfrm>
                <a:off x="52995" y="542821"/>
                <a:ext cx="4695769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67639" tIns="167639" rIns="167639" bIns="167639" numCol="1" anchor="ctr">
                <a:spAutoFit/>
              </a:bodyPr>
              <a:lstStyle>
                <a:lvl1pPr algn="ctr"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latin typeface="Roboto"/>
                    <a:ea typeface="Roboto"/>
                    <a:cs typeface="Roboto"/>
                    <a:sym typeface="Roboto"/>
                  </a:defRPr>
                </a:lvl1pPr>
              </a:lstStyle>
              <a:p>
                <a:pPr/>
                <a:r>
                  <a:t>MoSCoW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8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Screenshot 2026-04-01 at 14.07.11.png" descr="Screenshot 2026-04-01 at 14.07.1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0633" y="1948339"/>
            <a:ext cx="22374596" cy="87543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Схема процесса</a:t>
            </a:r>
          </a:p>
        </p:txBody>
      </p:sp>
      <p:sp>
        <p:nvSpPr>
          <p:cNvPr id="191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9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Untitled Diagram.drawio.png" descr="Untitled Diagram.drawi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15139" y="2080315"/>
            <a:ext cx="7767911" cy="113276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Команда проекта</a:t>
            </a:r>
          </a:p>
        </p:txBody>
      </p:sp>
      <p:sp>
        <p:nvSpPr>
          <p:cNvPr id="196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9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2" y="3563772"/>
            <a:ext cx="22695880" cy="7348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Титов Илья -TeamLead. Основная документация проекта, распределение ролей, помощь.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Шилов Захар - BackEnd. Главный разработчик back, подключение сервера, добавление домена. 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Трофименко Дмитрий -  FrontEnd. Главный разработчик front, создание макета проекта, основное оформление внешней части сайта. 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Сидорова Юлия - BackEnd. Второй разработчик back, добавление и создание базы данных, помощь с документацией.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Савин Виталий - FrontEnd. Второй разработчик front, оформление регистрационных страниц и оформление сценариев.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RACI-матрица</a:t>
            </a:r>
          </a:p>
        </p:txBody>
      </p:sp>
      <p:sp>
        <p:nvSpPr>
          <p:cNvPr id="201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0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03" name="Table 1"/>
          <p:cNvGraphicFramePr/>
          <p:nvPr/>
        </p:nvGraphicFramePr>
        <p:xfrm>
          <a:off x="822003" y="3298702"/>
          <a:ext cx="9417512" cy="914842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569585"/>
                <a:gridCol w="1569585"/>
                <a:gridCol w="1569585"/>
                <a:gridCol w="1569585"/>
                <a:gridCol w="1569585"/>
                <a:gridCol w="1569585"/>
              </a:tblGrid>
              <a:tr h="1123378">
                <a:tc>
                  <a:txBody>
                    <a:bodyPr/>
                    <a:lstStyle/>
                    <a:p>
                      <a:pPr algn="l" defTabSz="457200">
                        <a:defRPr b="1" sz="1500">
                          <a:sym typeface="Helvetica Neue"/>
                        </a:defRPr>
                      </a:pPr>
                      <a:r>
                        <a:t>Спонсор проекСпонсор проекта</a:t>
                      </a:r>
                    </a:p>
                    <a:p>
                      <a:pPr algn="l" defTabSz="457200">
                        <a:defRPr b="1" sz="1500">
                          <a:sym typeface="Helvetica Neue"/>
                        </a:defRPr>
                      </a:pPr>
                      <a:r>
                        <a:t>та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Менеджер проекта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Аналитик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Разработчик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Администратор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Консультант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  <a:tr h="697214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Сбор и анализ требований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</a:tr>
              <a:tr h="697214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Разработка ERD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  <a:tr h="697214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Разработка BPMN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</a:tr>
              <a:tr h="697214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Формирование User Stories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  <a:tr h="697214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Утверждение ТЗ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</a:tr>
              <a:tr h="909066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Разработка моделей Django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R/A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  <a:tr h="90747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Реализация CRUD книг/читателей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R/A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</a:tr>
              <a:tr h="90747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Реализация выдачи/возврата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R/A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  <a:tr h="90747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Реализация отчета «Просрочки»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R/A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</a:tr>
              <a:tr h="90747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Импорт/экспорт CSV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R/A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Roadmap проекта</a:t>
            </a:r>
          </a:p>
        </p:txBody>
      </p:sp>
      <p:sp>
        <p:nvSpPr>
          <p:cNvPr id="206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0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"/>
          <p:cNvSpPr txBox="1"/>
          <p:nvPr/>
        </p:nvSpPr>
        <p:spPr>
          <a:xfrm>
            <a:off x="9696512" y="6464351"/>
            <a:ext cx="4990975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		</a:t>
            </a:r>
          </a:p>
        </p:txBody>
      </p:sp>
      <p:pic>
        <p:nvPicPr>
          <p:cNvPr id="209" name="Screenshot 2026-04-01 at 13.43.50.png" descr="Screenshot 2026-04-01 at 13.43.5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9952" y="3628513"/>
            <a:ext cx="23844095" cy="38483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КЛЮЧЕВЫЕ…"/>
          <p:cNvSpPr txBox="1"/>
          <p:nvPr>
            <p:ph type="title"/>
          </p:nvPr>
        </p:nvSpPr>
        <p:spPr>
          <a:xfrm>
            <a:off x="961293" y="1360543"/>
            <a:ext cx="16810892" cy="1755489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Связь экранов UI</a:t>
            </a:r>
          </a:p>
        </p:txBody>
      </p:sp>
      <p:sp>
        <p:nvSpPr>
          <p:cNvPr id="212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ext"/>
          <p:cNvSpPr txBox="1"/>
          <p:nvPr/>
        </p:nvSpPr>
        <p:spPr>
          <a:xfrm>
            <a:off x="9696512" y="6464351"/>
            <a:ext cx="4990975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		</a:t>
            </a:r>
          </a:p>
        </p:txBody>
      </p:sp>
      <p:pic>
        <p:nvPicPr>
          <p:cNvPr id="215" name="Фич лист.png" descr="Фич лист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66005" y="1992409"/>
            <a:ext cx="14557658" cy="110094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КЛЮЧЕВЫЕ…"/>
          <p:cNvSpPr txBox="1"/>
          <p:nvPr>
            <p:ph type="title"/>
          </p:nvPr>
        </p:nvSpPr>
        <p:spPr>
          <a:xfrm>
            <a:off x="961293" y="1360543"/>
            <a:ext cx="16810892" cy="1755489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Test cases</a:t>
            </a:r>
          </a:p>
        </p:txBody>
      </p:sp>
      <p:sp>
        <p:nvSpPr>
          <p:cNvPr id="218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1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Text"/>
          <p:cNvSpPr txBox="1"/>
          <p:nvPr/>
        </p:nvSpPr>
        <p:spPr>
          <a:xfrm>
            <a:off x="9696512" y="6464351"/>
            <a:ext cx="4990975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		</a:t>
            </a:r>
          </a:p>
        </p:txBody>
      </p:sp>
      <p:sp>
        <p:nvSpPr>
          <p:cNvPr id="221" name="ТС-001…"/>
          <p:cNvSpPr txBox="1"/>
          <p:nvPr/>
        </p:nvSpPr>
        <p:spPr>
          <a:xfrm>
            <a:off x="896382" y="3296767"/>
            <a:ext cx="7454901" cy="949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ТС-001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Регистрация: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1) Нажать кнопку Вход на главной странице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2) Нажать на кнопку Зарегестрироваться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3) Ввести данные и нажать кнопку регистрации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4)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ТС-002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Выход из системы: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1) На авторизованной странице нажать кнопку Выйти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2)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ТС-003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Вход на сайт(с АКК):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1) Нажать кнопку Вход на главной странице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2) Ввести данные и нажать кнопку Входа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3)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ТС-004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Просмотр каталога: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№1 Для неавторизованного пользователя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1) Вписать название книги или автора в поисковую строку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2)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№2 Для авторизованного пользователя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1) Выбрать вкладку Каталог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2) Вписать название книги или автора в поисковую строку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3)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222" name="ТС-005…"/>
          <p:cNvSpPr txBox="1"/>
          <p:nvPr/>
        </p:nvSpPr>
        <p:spPr>
          <a:xfrm>
            <a:off x="11557126" y="3488091"/>
            <a:ext cx="11349429" cy="873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ТС-005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Экспорт книг библиотекарем(Админ может так же экспортировать пользователей в вкладке Пользователи):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1) Выбрать вкладку Данные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2) Нажать кнопку Экспорт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3)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ТС-006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Смена статуса пользователя(У админа):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1) Перейти во вкладку Пользователи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2) Выбрать пользователя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3) Сменить статус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4)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ТС-007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Добавление книги(Только у админа):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1) Перейти во вкладку Каталог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2) Заполнить данные о книге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3) Нажать кнопку Добавить книгу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4)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ТС-008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Запрос книги(Читатель):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1) Перейти во вкладку Каталог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2) Выбрать книгу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3) Нажать на кнопку Запросить книгу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4)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>
                <a:latin typeface="+mn-lt"/>
                <a:ea typeface="+mn-ea"/>
                <a:cs typeface="+mn-cs"/>
                <a:sym typeface="Helvetica"/>
              </a:defRPr>
            </a:pPr>
            <a:r>
              <a:t>(Смотреть статус заказа можно во вкладке Мои запросы)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КЛЮЧЕВЫЕ…"/>
          <p:cNvSpPr txBox="1"/>
          <p:nvPr>
            <p:ph type="title"/>
          </p:nvPr>
        </p:nvSpPr>
        <p:spPr>
          <a:xfrm>
            <a:off x="961293" y="1360543"/>
            <a:ext cx="16810892" cy="1755489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Доменная модель</a:t>
            </a:r>
          </a:p>
        </p:txBody>
      </p:sp>
      <p:sp>
        <p:nvSpPr>
          <p:cNvPr id="225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2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Text"/>
          <p:cNvSpPr txBox="1"/>
          <p:nvPr/>
        </p:nvSpPr>
        <p:spPr>
          <a:xfrm>
            <a:off x="9696512" y="6464351"/>
            <a:ext cx="4990975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		</a:t>
            </a:r>
          </a:p>
        </p:txBody>
      </p:sp>
      <p:pic>
        <p:nvPicPr>
          <p:cNvPr id="228" name="photo_2026-04-15 13.35.29.jpeg" descr="photo_2026-04-15 13.35.29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716" y="3816349"/>
            <a:ext cx="9637166" cy="8809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hoto_2026-04-15 13.35.32.jpeg" descr="photo_2026-04-15 13.35.32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2971" y="6473356"/>
            <a:ext cx="12090849" cy="59747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КЛЮЧЕВЫЕ…"/>
          <p:cNvSpPr txBox="1"/>
          <p:nvPr>
            <p:ph type="title"/>
          </p:nvPr>
        </p:nvSpPr>
        <p:spPr>
          <a:xfrm>
            <a:off x="961293" y="1360543"/>
            <a:ext cx="16810892" cy="1755489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BPMN</a:t>
            </a:r>
          </a:p>
        </p:txBody>
      </p:sp>
      <p:sp>
        <p:nvSpPr>
          <p:cNvPr id="232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3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Text"/>
          <p:cNvSpPr txBox="1"/>
          <p:nvPr/>
        </p:nvSpPr>
        <p:spPr>
          <a:xfrm>
            <a:off x="9696512" y="6464351"/>
            <a:ext cx="4990975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		</a:t>
            </a:r>
          </a:p>
        </p:txBody>
      </p:sp>
      <p:pic>
        <p:nvPicPr>
          <p:cNvPr id="235" name="photo_2026-04-15 13.41.11.jpeg" descr="photo_2026-04-15 13.41.11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90005" y="1898650"/>
            <a:ext cx="16439566" cy="114534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КЛЮЧЕВЫЕ…"/>
          <p:cNvSpPr txBox="1"/>
          <p:nvPr>
            <p:ph type="title"/>
          </p:nvPr>
        </p:nvSpPr>
        <p:spPr>
          <a:xfrm>
            <a:off x="961293" y="13859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Технологический стек</a:t>
            </a:r>
          </a:p>
        </p:txBody>
      </p:sp>
      <p:sp>
        <p:nvSpPr>
          <p:cNvPr id="238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3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2" y="3563772"/>
            <a:ext cx="22695880" cy="9244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Backend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Python 3.14.3 Основной язык программирования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Django 6.0.2 Веб-фреймворк, MVC-архитектура, ORM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PostgreSQL 14.x Реляционная база данных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Gunicorn 25.1.0 WSGI-сервер для продакшена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psycopg2-binary 2.9.11 Драйвер PostgreSQL для Django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python-decouple 3.8 Управление переменными окружения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Pillow 10.0.0 Обработка изображений (обложки книг)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---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Frontend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HTML5 — Структура страниц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CSS3 — Стилизация интерфейсов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JavaScript ES6+ Клиентская логика, динамическое обновление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Manrope — Основной шрифт (Google Fonts)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---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Серверная инфраструктура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Nginx Веб-сервер, reverse-proxy, раздача статики и медиа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Gunicorn WSGI-сервер для Django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Ubuntu 22.04 Операционная система на VPS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AdminVPS Хостинг-провайдер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93"/>
            </a:pPr>
            <a:r>
              <a:t>Let's Encrypt SSL-сертификаты (HTTPS)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Данные ERD</a:t>
            </a:r>
          </a:p>
        </p:txBody>
      </p:sp>
      <p:sp>
        <p:nvSpPr>
          <p:cNvPr id="243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4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2026-04-01 14.28.31.jpg" descr="2026-04-01 14.28.31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98210" y="3512015"/>
            <a:ext cx="13484394" cy="91793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Риски проекта</a:t>
            </a:r>
          </a:p>
        </p:txBody>
      </p:sp>
      <p:sp>
        <p:nvSpPr>
          <p:cNvPr id="248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4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50" name="Таблица 1"/>
          <p:cNvGraphicFramePr/>
          <p:nvPr/>
        </p:nvGraphicFramePr>
        <p:xfrm>
          <a:off x="961292" y="3749042"/>
          <a:ext cx="22813107" cy="514653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547992"/>
                <a:gridCol w="7577250"/>
                <a:gridCol w="4562621"/>
                <a:gridCol w="4562621"/>
                <a:gridCol w="4562621"/>
              </a:tblGrid>
              <a:tr h="1320165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  <a:sym typeface="Helvetica Neue"/>
                        </a:rPr>
                        <a:t>№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3970D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  <a:sym typeface="Helvetica Neue"/>
                        </a:rPr>
                        <a:t>Описание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  <a:sym typeface="Helvetica Neue"/>
                        </a:rPr>
                        <a:t>Вероятность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  <a:sym typeface="Helvetica Neue"/>
                        </a:rPr>
                        <a:t>Последствия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  <a:sym typeface="Helvetica Neue"/>
                        </a:rPr>
                        <a:t>Стратегия реагирования</a:t>
                      </a:r>
                    </a:p>
                  </a:txBody>
                  <a:tcPr marL="45720" marR="45720" marT="45720" marB="45720" anchor="ctr" anchorCtr="0" horzOverflow="overflow">
                    <a:lnR>
                      <a:solidFill>
                        <a:srgbClr val="3970D0"/>
                      </a:solidFill>
                    </a:lnR>
                  </a:tcPr>
                </a:tc>
              </a:tr>
              <a:tr h="127545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4000">
                          <a:sym typeface="Helvetica Neue"/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3970D0"/>
                      </a:solidFill>
                    </a:lnL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Неверная логика расчета просрочек (особенно на границах дат)</a:t>
                      </a:r>
                    </a:p>
                  </a:txBody>
                  <a:tcPr marL="45720" marR="45720" marT="45720" marB="45720" anchor="t" anchorCtr="0" horzOverflow="overflow"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Средняя</a:t>
                      </a:r>
                    </a:p>
                  </a:txBody>
                  <a:tcPr marL="45720" marR="45720" marT="45720" marB="45720" anchor="t" anchorCtr="0" horzOverflow="overflow"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Высокие</a:t>
                      </a:r>
                    </a:p>
                  </a:txBody>
                  <a:tcPr marL="45720" marR="45720" marT="45720" marB="45720" anchor="t" anchorCtr="0" horzOverflow="overflow"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500">
                          <a:sym typeface="Helvetica Neue"/>
                        </a:rPr>
                        <a:t>Снижение — разработать подробные тест-кейсы с граничными условиями, провести код-ревью, согласовать формулу с заказчиком до разработки</a:t>
                      </a:r>
                    </a:p>
                  </a:txBody>
                  <a:tcPr marL="45720" marR="45720" marT="45720" marB="45720" anchor="t" anchorCtr="0" horzOverflow="overflow">
                    <a:lnR>
                      <a:solidFill>
                        <a:srgbClr val="3970D0"/>
                      </a:solidFill>
                    </a:lnR>
                    <a:lnB>
                      <a:solidFill>
                        <a:srgbClr val="3970D0"/>
                      </a:solidFill>
                    </a:lnB>
                  </a:tcPr>
                </a:tc>
              </a:tr>
              <a:tr h="127545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4000">
                          <a:sym typeface="Helvetica Neue"/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3970D0"/>
                      </a:solidFill>
                    </a:lnL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Изменение требований к отчетности в процессе разработки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Средняя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Высокие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500">
                          <a:sym typeface="Helvetica Neue"/>
                        </a:rPr>
                        <a:t>Снижение — утвердить макеты отчетов с заказчиком на этапе анализа, использовать гибкий подход (Agile) с демо каждые 2 недели, заложить буфер времени</a:t>
                      </a:r>
                    </a:p>
                  </a:txBody>
                  <a:tcPr marL="127000" marR="127000" marT="127000" marB="127000" anchor="ctr" anchorCtr="0" horzOverflow="overflow">
                    <a:lnR>
                      <a:solidFill>
                        <a:srgbClr val="3970D0"/>
                      </a:solidFill>
                    </a:lnR>
                    <a:lnT>
                      <a:solidFill>
                        <a:srgbClr val="3970D0"/>
                      </a:solidFill>
                    </a:lnT>
                  </a:tcPr>
                </a:tc>
              </a:tr>
              <a:tr h="127545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4000">
                          <a:sym typeface="Helvetica Neue"/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3970D0"/>
                      </a:solidFill>
                    </a:lnL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Низкая квалификация библиотекарей для работы с веб-интерфейсом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Низкая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Средние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500">
                          <a:sym typeface="Helvetica Neue"/>
                        </a:rPr>
                        <a:t>Снижение — разработать простой и интуитивный интерфейс, провести обучение (1-2 занятия), подготовить видеоинструкцию</a:t>
                      </a:r>
                    </a:p>
                  </a:txBody>
                  <a:tcPr marL="127000" marR="127000" marT="127000" marB="127000" anchor="ctr" anchorCtr="0" horzOverflow="overflow">
                    <a:lnR>
                      <a:solidFill>
                        <a:srgbClr val="3970D0"/>
                      </a:solidFill>
                    </a:lnR>
                    <a:lnB>
                      <a:solidFill>
                        <a:srgbClr val="397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1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1" y="10419905"/>
            <a:ext cx="11230711" cy="2278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1804370">
              <a:spcBef>
                <a:spcPts val="1700"/>
              </a:spcBef>
              <a:defRPr b="1" sz="3600">
                <a:latin typeface="Roboto"/>
                <a:ea typeface="Roboto"/>
                <a:cs typeface="Roboto"/>
                <a:sym typeface="Roboto"/>
              </a:defRPr>
            </a:pPr>
            <a:r>
              <a:t>Значения вероятности</a:t>
            </a:r>
            <a:r>
              <a:rPr b="0"/>
              <a:t>: низкая, средняя, высокая</a:t>
            </a:r>
            <a:endParaRPr sz="3200"/>
          </a:p>
          <a:p>
            <a:pPr defTabSz="1804370">
              <a:spcBef>
                <a:spcPts val="1700"/>
              </a:spcBef>
              <a:defRPr b="1" sz="3600">
                <a:latin typeface="Roboto"/>
                <a:ea typeface="Roboto"/>
                <a:cs typeface="Roboto"/>
                <a:sym typeface="Roboto"/>
              </a:defRPr>
            </a:pPr>
            <a:r>
              <a:t>Значения последствий</a:t>
            </a:r>
            <a:r>
              <a:rPr b="0"/>
              <a:t>: низкие, средние, высокие</a:t>
            </a:r>
          </a:p>
        </p:txBody>
      </p:sp>
      <p:graphicFrame>
        <p:nvGraphicFramePr>
          <p:cNvPr id="252" name="Таблица 5"/>
          <p:cNvGraphicFramePr/>
          <p:nvPr/>
        </p:nvGraphicFramePr>
        <p:xfrm>
          <a:off x="12367844" y="10133548"/>
          <a:ext cx="11406554" cy="351723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4197683"/>
                <a:gridCol w="2402956"/>
                <a:gridCol w="2402956"/>
                <a:gridCol w="2402956"/>
              </a:tblGrid>
              <a:tr h="879307">
                <a:tc>
                  <a:txBody>
                    <a:bodyPr/>
                    <a:lstStyle/>
                    <a:p>
                      <a:pPr algn="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Helvetica Neue"/>
                        </a:rPr>
                        <a:t>Высокая</a:t>
                      </a:r>
                    </a:p>
                  </a:txBody>
                  <a:tcPr marL="45720" marR="45720" marT="45720" marB="45720" anchor="t" anchorCtr="0" horzOverflow="overflow">
                    <a:lnR w="28575">
                      <a:solidFill>
                        <a:schemeClr val="accent1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FFD7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FFD7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EE7A90"/>
                    </a:solidFill>
                  </a:tcPr>
                </a:tc>
              </a:tr>
              <a:tr h="879307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2000">
                          <a:sym typeface="Helvetica Neue"/>
                        </a:rPr>
                        <a:t>Средняя</a:t>
                      </a:r>
                    </a:p>
                  </a:txBody>
                  <a:tcPr marL="45720" marR="45720" marT="45720" marB="45720" anchor="t" anchorCtr="0" horzOverflow="overflow">
                    <a:lnR w="28575">
                      <a:solidFill>
                        <a:schemeClr val="accent1"/>
                      </a:solidFill>
                    </a:lnR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8CD7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Риск 1</a:t>
                      </a: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FFD7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Риск 2</a:t>
                      </a: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EE7A90"/>
                    </a:solidFill>
                  </a:tcPr>
                </a:tc>
              </a:tr>
              <a:tr h="879307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2000">
                          <a:sym typeface="Helvetica Neue"/>
                        </a:rPr>
                        <a:t>Низкая</a:t>
                      </a:r>
                    </a:p>
                  </a:txBody>
                  <a:tcPr marL="45720" marR="45720" marT="45720" marB="45720" anchor="t" anchorCtr="0" horzOverflow="overflow">
                    <a:lnR w="28575">
                      <a:solidFill>
                        <a:schemeClr val="accent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Риск 3</a:t>
                      </a: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8CD7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8CD7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FFD773"/>
                    </a:solidFill>
                  </a:tcPr>
                </a:tc>
              </a:tr>
              <a:tr h="879307"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000">
                          <a:sym typeface="Helvetica Neue"/>
                        </a:rPr>
                        <a:t>Низкие</a:t>
                      </a:r>
                    </a:p>
                  </a:txBody>
                  <a:tcPr marL="45720" marR="45720" marT="45720" marB="45720" anchor="t" anchorCtr="0" horzOverflow="overflow">
                    <a:lnT w="28575">
                      <a:solidFill>
                        <a:schemeClr val="accent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000">
                          <a:sym typeface="Helvetica Neue"/>
                        </a:rPr>
                        <a:t>Средние</a:t>
                      </a:r>
                    </a:p>
                  </a:txBody>
                  <a:tcPr marL="45720" marR="45720" marT="45720" marB="45720" anchor="t" anchorCtr="0" horzOverflow="overflow">
                    <a:lnT w="28575">
                      <a:solidFill>
                        <a:schemeClr val="accent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000">
                          <a:sym typeface="Helvetica Neue"/>
                        </a:rPr>
                        <a:t>Высокие</a:t>
                      </a:r>
                    </a:p>
                  </a:txBody>
                  <a:tcPr marL="45720" marR="45720" marT="45720" marB="45720" anchor="t" anchorCtr="0" horzOverflow="overflow">
                    <a:lnT w="28575">
                      <a:solidFill>
                        <a:schemeClr val="accent1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253" name="КЛЮЧЕВЫЕ…"/>
          <p:cNvSpPr txBox="1"/>
          <p:nvPr/>
        </p:nvSpPr>
        <p:spPr>
          <a:xfrm>
            <a:off x="16472777" y="8433899"/>
            <a:ext cx="5413248" cy="1510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33777">
              <a:spcBef>
                <a:spcPts val="0"/>
              </a:spcBef>
              <a:defRPr b="1" spc="-100" sz="5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Матрица рисков</a:t>
            </a:r>
          </a:p>
        </p:txBody>
      </p:sp>
      <p:sp>
        <p:nvSpPr>
          <p:cNvPr id="254" name="КЛЮЧЕВЫЕ…"/>
          <p:cNvSpPr txBox="1"/>
          <p:nvPr/>
        </p:nvSpPr>
        <p:spPr>
          <a:xfrm>
            <a:off x="961289" y="8622795"/>
            <a:ext cx="5413250" cy="1510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spcBef>
                <a:spcPts val="0"/>
              </a:spcBef>
              <a:defRPr b="1" spc="-100" sz="54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Легенда</a:t>
            </a:r>
          </a:p>
        </p:txBody>
      </p:sp>
      <p:sp>
        <p:nvSpPr>
          <p:cNvPr id="255" name="КЛЮЧЕВЫЕ…"/>
          <p:cNvSpPr txBox="1"/>
          <p:nvPr/>
        </p:nvSpPr>
        <p:spPr>
          <a:xfrm rot="16200000">
            <a:off x="13476422" y="10796385"/>
            <a:ext cx="2856900" cy="640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lnSpc>
                <a:spcPct val="108000"/>
              </a:lnSpc>
              <a:spcBef>
                <a:spcPts val="0"/>
              </a:spcBef>
              <a:defRPr b="1" spc="-100" sz="3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Вероятность</a:t>
            </a:r>
          </a:p>
        </p:txBody>
      </p:sp>
      <p:sp>
        <p:nvSpPr>
          <p:cNvPr id="256" name="КЛЮЧЕВЫЕ…"/>
          <p:cNvSpPr txBox="1"/>
          <p:nvPr/>
        </p:nvSpPr>
        <p:spPr>
          <a:xfrm>
            <a:off x="19029125" y="13009846"/>
            <a:ext cx="2856900" cy="640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lnSpc>
                <a:spcPct val="108000"/>
              </a:lnSpc>
              <a:spcBef>
                <a:spcPts val="0"/>
              </a:spcBef>
              <a:defRPr b="1" spc="-100" sz="3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Последствия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Макеты экранов</a:t>
            </a:r>
          </a:p>
        </p:txBody>
      </p:sp>
      <p:sp>
        <p:nvSpPr>
          <p:cNvPr id="259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6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39" cy="1495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Screenshot 2026-04-01 at 13.51.29.png" descr="Screenshot 2026-04-01 at 13.51.2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4823" y="3645644"/>
            <a:ext cx="12397554" cy="6847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Screenshot 2026-04-01 at 13.51.36.png" descr="Screenshot 2026-04-01 at 13.51.36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725184" y="3650055"/>
            <a:ext cx="6464304" cy="71755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О форуме"/>
          <p:cNvSpPr txBox="1"/>
          <p:nvPr>
            <p:ph type="title"/>
          </p:nvPr>
        </p:nvSpPr>
        <p:spPr>
          <a:xfrm>
            <a:off x="1219200" y="1634376"/>
            <a:ext cx="10309577" cy="1325660"/>
          </a:xfrm>
          <a:prstGeom prst="rect">
            <a:avLst/>
          </a:prstGeom>
        </p:spPr>
        <p:txBody>
          <a:bodyPr anchor="b"/>
          <a:lstStyle>
            <a:lvl1pPr defTabSz="2389632">
              <a:defRPr spc="-100" sz="7300">
                <a:solidFill>
                  <a:srgbClr val="0B2D50"/>
                </a:solidFill>
              </a:defRPr>
            </a:lvl1pPr>
          </a:lstStyle>
          <a:p>
            <a:pPr/>
            <a:r>
              <a:t>Проект решения</a:t>
            </a:r>
          </a:p>
        </p:txBody>
      </p:sp>
      <p:sp>
        <p:nvSpPr>
          <p:cNvPr id="265" name="Развитие технологий, использующих для своего функционирования современные IT-решения, квантовые технологии и искусственный интеллект позволят сформировать в России передовую экономику — экономику данных."/>
          <p:cNvSpPr txBox="1"/>
          <p:nvPr>
            <p:ph type="body" idx="1"/>
          </p:nvPr>
        </p:nvSpPr>
        <p:spPr>
          <a:xfrm>
            <a:off x="1219200" y="3309635"/>
            <a:ext cx="16632382" cy="9316358"/>
          </a:xfrm>
          <a:prstGeom prst="rect">
            <a:avLst/>
          </a:prstGeom>
        </p:spPr>
        <p:txBody>
          <a:bodyPr/>
          <a:lstStyle/>
          <a:p>
            <a:pPr defTabSz="1926287">
              <a:lnSpc>
                <a:spcPct val="120000"/>
              </a:lnSpc>
              <a:spcBef>
                <a:spcPts val="1800"/>
              </a:spcBef>
              <a:defRPr spc="0" sz="3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Утвердить параметры проекта «________»</a:t>
            </a:r>
            <a:endParaRPr b="1"/>
          </a:p>
          <a:p>
            <a:pPr defTabSz="1926287">
              <a:lnSpc>
                <a:spcPct val="120000"/>
              </a:lnSpc>
              <a:spcBef>
                <a:spcPts val="1800"/>
              </a:spcBef>
              <a:defRPr spc="0" sz="3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Утвердить руководителем проекта _________</a:t>
            </a:r>
            <a:endParaRPr b="1"/>
          </a:p>
          <a:p>
            <a:pPr defTabSz="1926287">
              <a:lnSpc>
                <a:spcPct val="120000"/>
              </a:lnSpc>
              <a:spcBef>
                <a:spcPts val="1800"/>
              </a:spcBef>
              <a:defRPr spc="0" sz="3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Выделить ресурсы для реализации проекта «________»</a:t>
            </a:r>
          </a:p>
        </p:txBody>
      </p:sp>
      <p:pic>
        <p:nvPicPr>
          <p:cNvPr id="266" name="Group 186.png" descr="Group 18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Square"/>
          <p:cNvSpPr/>
          <p:nvPr/>
        </p:nvSpPr>
        <p:spPr>
          <a:xfrm>
            <a:off x="18539192" y="1634376"/>
            <a:ext cx="5429253" cy="11613793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6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274981" y="2297207"/>
            <a:ext cx="3957677" cy="27729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Half Logo Left.png" descr="Half Logo Lef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40637" y="0"/>
            <a:ext cx="9478213" cy="13911266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Square"/>
          <p:cNvSpPr/>
          <p:nvPr/>
        </p:nvSpPr>
        <p:spPr>
          <a:xfrm>
            <a:off x="12888613" y="-1"/>
            <a:ext cx="13911263" cy="13813633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72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475269" y="3458354"/>
            <a:ext cx="7729140" cy="54154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3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502419" y="491891"/>
            <a:ext cx="4816849" cy="6723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933072" y="352007"/>
            <a:ext cx="4431313" cy="817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10" descr="Picture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3978187" y="316076"/>
            <a:ext cx="1740677" cy="848169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ГЛОБАЛЬНАЯ КОНКУРЕНЦИЯ"/>
          <p:cNvSpPr txBox="1"/>
          <p:nvPr/>
        </p:nvSpPr>
        <p:spPr>
          <a:xfrm>
            <a:off x="14095584" y="9665589"/>
            <a:ext cx="11497319" cy="2993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2438400">
              <a:spcBef>
                <a:spcPts val="0"/>
              </a:spcBef>
              <a:defRPr b="1" cap="all" spc="-100" sz="6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Основы проектной деятельности</a:t>
            </a:r>
          </a:p>
        </p:txBody>
      </p:sp>
      <p:sp>
        <p:nvSpPr>
          <p:cNvPr id="277" name="Текст 3"/>
          <p:cNvSpPr txBox="1"/>
          <p:nvPr>
            <p:ph type="body" sz="half" idx="1"/>
          </p:nvPr>
        </p:nvSpPr>
        <p:spPr>
          <a:xfrm>
            <a:off x="3044687" y="5863337"/>
            <a:ext cx="9757573" cy="8384680"/>
          </a:xfrm>
          <a:prstGeom prst="rect">
            <a:avLst/>
          </a:prstGeom>
        </p:spPr>
        <p:txBody>
          <a:bodyPr/>
          <a:lstStyle>
            <a:lvl1pPr algn="ctr" defTabSz="2438337">
              <a:lnSpc>
                <a:spcPct val="120000"/>
              </a:lnSpc>
              <a:spcBef>
                <a:spcPts val="2400"/>
              </a:spcBef>
              <a:defRPr b="1" spc="0" sz="9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Вопросы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12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 upright="0">
        <a:spAutoFit/>
      </a:bodyPr>
      <a:lstStyle>
        <a:defPPr marL="0" marR="0" indent="0" algn="l" defTabSz="2438337" rtl="0" fontAlgn="auto" latinLnBrk="0" hangingPunct="0">
          <a:lnSpc>
            <a:spcPct val="12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12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 upright="0">
        <a:spAutoFit/>
      </a:bodyPr>
      <a:lstStyle>
        <a:defPPr marL="0" marR="0" indent="0" algn="l" defTabSz="2438337" rtl="0" fontAlgn="auto" latinLnBrk="0" hangingPunct="0">
          <a:lnSpc>
            <a:spcPct val="12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